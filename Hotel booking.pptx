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6"/>
  </p:notesMasterIdLst>
  <p:sldIdLst>
    <p:sldId id="316" r:id="rId5"/>
    <p:sldId id="310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226" autoAdjust="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outlineViewPr>
    <p:cViewPr>
      <p:scale>
        <a:sx n="33" d="100"/>
        <a:sy n="33" d="100"/>
      </p:scale>
      <p:origin x="0" y="-31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1857-7F2F-4FA5-AC91-CA6CB406E5ED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1AFB1-1A0D-4465-9C69-5C319B14D7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7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37BDE-FCE3-41C4-B976-0DC28743AC5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0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159" y="1348536"/>
            <a:ext cx="4076458" cy="3654827"/>
          </a:xfrm>
        </p:spPr>
        <p:txBody>
          <a:bodyPr anchor="b">
            <a:normAutofit/>
          </a:bodyPr>
          <a:lstStyle>
            <a:lvl1pPr algn="r">
              <a:def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4851079-28FC-41AF-8373-BD8382DEDA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  <a:cs typeface="Calibri"/>
              </a:rPr>
              <a:t>Click to edit master text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D6C3907-3C68-4C02-98EE-B36817B376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7025" y="0"/>
            <a:ext cx="6734974" cy="6858001"/>
          </a:xfrm>
          <a:custGeom>
            <a:avLst/>
            <a:gdLst>
              <a:gd name="connsiteX0" fmla="*/ 1 w 6734974"/>
              <a:gd name="connsiteY0" fmla="*/ 6292661 h 6858001"/>
              <a:gd name="connsiteX1" fmla="*/ 6734974 w 6734974"/>
              <a:gd name="connsiteY1" fmla="*/ 6292661 h 6858001"/>
              <a:gd name="connsiteX2" fmla="*/ 6734974 w 6734974"/>
              <a:gd name="connsiteY2" fmla="*/ 6858001 h 6858001"/>
              <a:gd name="connsiteX3" fmla="*/ 1 w 6734974"/>
              <a:gd name="connsiteY3" fmla="*/ 6858001 h 6858001"/>
              <a:gd name="connsiteX4" fmla="*/ 0 w 6734974"/>
              <a:gd name="connsiteY4" fmla="*/ 0 h 6858001"/>
              <a:gd name="connsiteX5" fmla="*/ 6734973 w 6734974"/>
              <a:gd name="connsiteY5" fmla="*/ 0 h 6858001"/>
              <a:gd name="connsiteX6" fmla="*/ 6734973 w 6734974"/>
              <a:gd name="connsiteY6" fmla="*/ 6256019 h 6858001"/>
              <a:gd name="connsiteX7" fmla="*/ 0 w 6734974"/>
              <a:gd name="connsiteY7" fmla="*/ 625601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4974" h="6858001">
                <a:moveTo>
                  <a:pt x="1" y="6292661"/>
                </a:moveTo>
                <a:lnTo>
                  <a:pt x="6734974" y="6292661"/>
                </a:lnTo>
                <a:lnTo>
                  <a:pt x="6734974" y="6858001"/>
                </a:lnTo>
                <a:lnTo>
                  <a:pt x="1" y="6858001"/>
                </a:lnTo>
                <a:close/>
                <a:moveTo>
                  <a:pt x="0" y="0"/>
                </a:moveTo>
                <a:lnTo>
                  <a:pt x="6734973" y="0"/>
                </a:lnTo>
                <a:lnTo>
                  <a:pt x="6734973" y="6256019"/>
                </a:lnTo>
                <a:lnTo>
                  <a:pt x="0" y="62560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84E7FD-271C-4B10-826F-A323C479D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93159" y="6274339"/>
            <a:ext cx="113988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4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FE17E6-924C-47EE-8164-2CD1687C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72DC8-7C70-4BE2-9DB2-CFABD37F8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1965163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2550" y="539750"/>
            <a:ext cx="4281488" cy="2468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E5E2300-A2FB-4449-8855-6D21495825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4050" y="3835400"/>
            <a:ext cx="4281488" cy="2468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96BE-A34E-471B-A916-071966BC699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040EA-B3B8-4EB9-BC7F-EB3DFF9597D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82D71-9E0A-4793-BA54-BEAEB7A368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48A8E28-7873-4AFA-A619-0E497E01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2268" y="536567"/>
            <a:ext cx="5784867" cy="5784867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 anchor="ctr">
            <a:normAutofit/>
          </a:bodyPr>
          <a:lstStyle>
            <a:lvl1pPr algn="ctr">
              <a:defRPr lang="en-US" sz="45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6567"/>
            <a:ext cx="4518504" cy="5784867"/>
          </a:xfrm>
        </p:spPr>
        <p:txBody>
          <a:bodyPr anchor="ctr">
            <a:normAutofit/>
          </a:bodyPr>
          <a:lstStyle>
            <a:lvl1pPr marL="0" indent="0">
              <a:lnSpc>
                <a:spcPts val="2500"/>
              </a:lnSpc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sp>
        <p:nvSpPr>
          <p:cNvPr id="4" name="Graphic 13">
            <a:extLst>
              <a:ext uri="{FF2B5EF4-FFF2-40B4-BE49-F238E27FC236}">
                <a16:creationId xmlns:a16="http://schemas.microsoft.com/office/drawing/2014/main" id="{5EB0124E-1A8A-4EB1-A9CF-E273590B6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945" y="351421"/>
            <a:ext cx="198609" cy="198609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2">
            <a:extLst>
              <a:ext uri="{FF2B5EF4-FFF2-40B4-BE49-F238E27FC236}">
                <a16:creationId xmlns:a16="http://schemas.microsoft.com/office/drawing/2014/main" id="{44654EA2-A648-4219-B093-1C05AE96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5883" y="5732852"/>
            <a:ext cx="130186" cy="130186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81C0EC89-A66C-4027-8FF0-F7605B50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223" y="1072473"/>
            <a:ext cx="182432" cy="182432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11FC072-5A30-4F87-8D5F-B58BC2023A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A406C42C-BE3A-4833-B0B7-357CE8FB6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E6E8B18-45E0-4925-8E5D-41F418C91E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236E68-2CF8-44ED-939D-0302808CE8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370" cy="6858000"/>
          </a:xfrm>
          <a:custGeom>
            <a:avLst/>
            <a:gdLst>
              <a:gd name="connsiteX0" fmla="*/ 0 w 12188370"/>
              <a:gd name="connsiteY0" fmla="*/ 0 h 6858000"/>
              <a:gd name="connsiteX1" fmla="*/ 12188370 w 12188370"/>
              <a:gd name="connsiteY1" fmla="*/ 0 h 6858000"/>
              <a:gd name="connsiteX2" fmla="*/ 12188370 w 12188370"/>
              <a:gd name="connsiteY2" fmla="*/ 6858000 h 6858000"/>
              <a:gd name="connsiteX3" fmla="*/ 0 w 12188370"/>
              <a:gd name="connsiteY3" fmla="*/ 6858000 h 6858000"/>
              <a:gd name="connsiteX4" fmla="*/ 0 w 12188370"/>
              <a:gd name="connsiteY4" fmla="*/ 843875 h 6858000"/>
              <a:gd name="connsiteX5" fmla="*/ 8473201 w 12188370"/>
              <a:gd name="connsiteY5" fmla="*/ 843875 h 6858000"/>
              <a:gd name="connsiteX6" fmla="*/ 8473201 w 12188370"/>
              <a:gd name="connsiteY6" fmla="*/ 816443 h 6858000"/>
              <a:gd name="connsiteX7" fmla="*/ 0 w 12188370"/>
              <a:gd name="connsiteY7" fmla="*/ 8164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370" h="6858000">
                <a:moveTo>
                  <a:pt x="0" y="0"/>
                </a:moveTo>
                <a:lnTo>
                  <a:pt x="12188370" y="0"/>
                </a:lnTo>
                <a:lnTo>
                  <a:pt x="12188370" y="6858000"/>
                </a:lnTo>
                <a:lnTo>
                  <a:pt x="0" y="6858000"/>
                </a:lnTo>
                <a:lnTo>
                  <a:pt x="0" y="843875"/>
                </a:lnTo>
                <a:lnTo>
                  <a:pt x="8473201" y="843875"/>
                </a:lnTo>
                <a:lnTo>
                  <a:pt x="8473201" y="816443"/>
                </a:lnTo>
                <a:lnTo>
                  <a:pt x="0" y="8164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6275" y="2276439"/>
            <a:ext cx="9679448" cy="2868439"/>
          </a:xfrm>
        </p:spPr>
        <p:txBody>
          <a:bodyPr anchor="b">
            <a:noAutofit/>
          </a:bodyPr>
          <a:lstStyle>
            <a:lvl1pPr algn="l">
              <a:defRPr lang="en-US" sz="7200" b="1" kern="1200" cap="all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1D9E9B9-E0A7-4C75-946E-BBAEBCC2CA6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5098254"/>
            <a:ext cx="9679449" cy="750259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C6873F-B921-4626-97A7-FD8E9398E4E7}"/>
              </a:ext>
            </a:extLst>
          </p:cNvPr>
          <p:cNvCxnSpPr>
            <a:cxnSpLocks/>
          </p:cNvCxnSpPr>
          <p:nvPr userDrawn="1"/>
        </p:nvCxnSpPr>
        <p:spPr>
          <a:xfrm flipH="1">
            <a:off x="-10886" y="821523"/>
            <a:ext cx="84732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raphic 13">
            <a:extLst>
              <a:ext uri="{FF2B5EF4-FFF2-40B4-BE49-F238E27FC236}">
                <a16:creationId xmlns:a16="http://schemas.microsoft.com/office/drawing/2014/main" id="{275D0799-1240-4A8C-98BF-96679D262568}"/>
              </a:ext>
            </a:extLst>
          </p:cNvPr>
          <p:cNvSpPr/>
          <p:nvPr userDrawn="1"/>
        </p:nvSpPr>
        <p:spPr>
          <a:xfrm>
            <a:off x="544954" y="2865643"/>
            <a:ext cx="146329" cy="157937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3F7A1898-37E9-4DF7-9E1E-A5D41681C6D9}"/>
              </a:ext>
            </a:extLst>
          </p:cNvPr>
          <p:cNvSpPr/>
          <p:nvPr userDrawn="1"/>
        </p:nvSpPr>
        <p:spPr>
          <a:xfrm>
            <a:off x="903734" y="3094942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DA49FC99-340D-4901-98CD-6C4D1941C969}"/>
              </a:ext>
            </a:extLst>
          </p:cNvPr>
          <p:cNvSpPr/>
          <p:nvPr userDrawn="1"/>
        </p:nvSpPr>
        <p:spPr>
          <a:xfrm>
            <a:off x="532920" y="361923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7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,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395" y="1825625"/>
            <a:ext cx="10069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5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7D4E1F-D8DD-4ED2-8901-A47E93089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4820000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3301" y="299507"/>
            <a:ext cx="5221620" cy="62589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19B6EE4-4480-4732-A518-32AAC2EC081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77543"/>
            <a:ext cx="4434721" cy="978806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8DA37-6556-4F96-9D80-0B084FB282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928D1E0-21A1-4EC2-B776-3F8703D3A0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0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B15A-5639-4D83-9CDE-B6FC231C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24" y="346498"/>
            <a:ext cx="8117654" cy="1325563"/>
          </a:xfrm>
        </p:spPr>
        <p:txBody>
          <a:bodyPr>
            <a:normAutofit/>
          </a:bodyPr>
          <a:lstStyle>
            <a:lvl1pPr>
              <a:defRPr sz="54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AB6B174-300F-4F50-A575-00A13C1635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438" y="2006600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74E96A81-148E-486F-BEFA-3D3FDB0B41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4908" y="2006380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17F02522-1BD4-4AC9-BBCB-05010ECC0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0378" y="2015722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E961DC1B-263A-48A8-89E6-541AC356E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7276" y="2006379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C4443B1-A455-4AF9-BE87-A07EA91F85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724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EEC7D0BC-E2A5-4FBE-A334-D9FF80B0DD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8724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0CC80C9C-897F-4C36-8150-427548D8FF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490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621D1DC-4C76-4E2F-A56F-7D7C193776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490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2DF3BDDA-6F5B-42F5-B623-12E87B199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037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332AD10F-DEDB-4199-BAF1-536999434B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1037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28F12227-FF8F-4C6B-910E-91A315DC22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5847" y="5017734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C71F03-1105-4059-948E-EE58B5878A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5847" y="5352052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D29C9-824B-4147-81C3-28968F4647D1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61988" y="61339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38C45-011A-48F8-A346-A07B1E830B4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505757" y="845343"/>
            <a:ext cx="363392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C46EB-807F-48CF-988B-E006AEC9992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610600" y="61604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0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2 column (comparison slide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5">
            <a:extLst>
              <a:ext uri="{FF2B5EF4-FFF2-40B4-BE49-F238E27FC236}">
                <a16:creationId xmlns:a16="http://schemas.microsoft.com/office/drawing/2014/main" id="{AF89E921-750A-4005-BEC2-04B9514B2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3B378915-E570-47AE-8F85-FB8ED4A6C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4">
            <a:extLst>
              <a:ext uri="{FF2B5EF4-FFF2-40B4-BE49-F238E27FC236}">
                <a16:creationId xmlns:a16="http://schemas.microsoft.com/office/drawing/2014/main" id="{3AF1E926-D68F-4DC8-9F6D-C2C1576F9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6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822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282206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815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6815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F0B73B7-7EF9-4436-8B85-AC6CB551C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3841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12A1950-E837-4678-94B1-FA2446714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3841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C425DB15-1B5A-4780-98B4-C0921A42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96A2980-FE4D-41BC-9B3F-DEC465C64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4">
            <a:extLst>
              <a:ext uri="{FF2B5EF4-FFF2-40B4-BE49-F238E27FC236}">
                <a16:creationId xmlns:a16="http://schemas.microsoft.com/office/drawing/2014/main" id="{2BBEE260-2DCA-4E68-9719-2D94DA79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6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95D367-78A2-47F5-B8D8-808AF3A34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11">
            <a:extLst>
              <a:ext uri="{FF2B5EF4-FFF2-40B4-BE49-F238E27FC236}">
                <a16:creationId xmlns:a16="http://schemas.microsoft.com/office/drawing/2014/main" id="{6109EF88-13AD-41C1-97AF-8C2772981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0">
            <a:extLst>
              <a:ext uri="{FF2B5EF4-FFF2-40B4-BE49-F238E27FC236}">
                <a16:creationId xmlns:a16="http://schemas.microsoft.com/office/drawing/2014/main" id="{45E9990E-4826-4D59-9C78-9A4A6CA1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2C717-2A7A-4268-8EAA-2647EC66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031"/>
            <a:ext cx="4984628" cy="1491339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FC668B-6914-4B3A-B7DF-20E1580B1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814530"/>
            <a:ext cx="4984628" cy="3359258"/>
          </a:xfrm>
        </p:spPr>
        <p:txBody>
          <a:bodyPr>
            <a:normAutofit/>
          </a:bodyPr>
          <a:lstStyle>
            <a:lvl1pPr marL="0" indent="0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407AA4-CC80-45E8-B78C-F0CF175638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4666" y="1678220"/>
            <a:ext cx="4267645" cy="4267645"/>
          </a:xfrm>
          <a:custGeom>
            <a:avLst/>
            <a:gdLst>
              <a:gd name="connsiteX0" fmla="*/ 2133823 w 4267645"/>
              <a:gd name="connsiteY0" fmla="*/ 0 h 4267645"/>
              <a:gd name="connsiteX1" fmla="*/ 4267645 w 4267645"/>
              <a:gd name="connsiteY1" fmla="*/ 2133823 h 4267645"/>
              <a:gd name="connsiteX2" fmla="*/ 2133823 w 4267645"/>
              <a:gd name="connsiteY2" fmla="*/ 4267645 h 4267645"/>
              <a:gd name="connsiteX3" fmla="*/ 0 w 4267645"/>
              <a:gd name="connsiteY3" fmla="*/ 2133823 h 4267645"/>
              <a:gd name="connsiteX4" fmla="*/ 2133823 w 4267645"/>
              <a:gd name="connsiteY4" fmla="*/ 0 h 426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7645" h="4267645">
                <a:moveTo>
                  <a:pt x="2133823" y="0"/>
                </a:moveTo>
                <a:cubicBezTo>
                  <a:pt x="3312299" y="0"/>
                  <a:pt x="4267645" y="955346"/>
                  <a:pt x="4267645" y="2133823"/>
                </a:cubicBezTo>
                <a:cubicBezTo>
                  <a:pt x="4267645" y="3312300"/>
                  <a:pt x="3312299" y="4267645"/>
                  <a:pt x="2133823" y="4267645"/>
                </a:cubicBezTo>
                <a:cubicBezTo>
                  <a:pt x="955346" y="4267645"/>
                  <a:pt x="0" y="3312300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8C582-BD9C-49F9-8097-36611CFF164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EACB3-0A23-4032-B5B1-266A253C2C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62190" y="623907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C0B42-8B5D-47B8-8E1E-5BAA45A847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6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CDB3-CB80-4B55-AA7A-C57DCAC8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 anchor="b">
            <a:noAutofit/>
          </a:bodyPr>
          <a:lstStyle>
            <a:lvl1pPr>
              <a:defRPr lang="en-US" sz="5400" b="1" kern="1200" spc="4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EFD46DF2-E81B-4E77-B06D-F09DC5853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D044CC36-2EFF-44B0-90A3-986DACB7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AAA3D090-A815-4AF9-88CE-94F0B7DD3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98169C0-3B43-43E5-AC66-3B5B27A466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04905" y="3728425"/>
            <a:ext cx="5181735" cy="253489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7F553A0-E179-4D32-97DB-0F36799679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0003" y="1856226"/>
            <a:ext cx="2040674" cy="2040674"/>
          </a:xfrm>
          <a:custGeom>
            <a:avLst/>
            <a:gdLst>
              <a:gd name="connsiteX0" fmla="*/ 1020337 w 2040674"/>
              <a:gd name="connsiteY0" fmla="*/ 0 h 2040674"/>
              <a:gd name="connsiteX1" fmla="*/ 2040674 w 2040674"/>
              <a:gd name="connsiteY1" fmla="*/ 1020337 h 2040674"/>
              <a:gd name="connsiteX2" fmla="*/ 1020337 w 2040674"/>
              <a:gd name="connsiteY2" fmla="*/ 2040674 h 2040674"/>
              <a:gd name="connsiteX3" fmla="*/ 0 w 2040674"/>
              <a:gd name="connsiteY3" fmla="*/ 1020337 h 2040674"/>
              <a:gd name="connsiteX4" fmla="*/ 1020337 w 2040674"/>
              <a:gd name="connsiteY4" fmla="*/ 0 h 204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0674" h="2040674">
                <a:moveTo>
                  <a:pt x="1020337" y="0"/>
                </a:moveTo>
                <a:cubicBezTo>
                  <a:pt x="1583854" y="0"/>
                  <a:pt x="2040674" y="456820"/>
                  <a:pt x="2040674" y="1020337"/>
                </a:cubicBezTo>
                <a:cubicBezTo>
                  <a:pt x="2040674" y="1583854"/>
                  <a:pt x="1583854" y="2040674"/>
                  <a:pt x="1020337" y="2040674"/>
                </a:cubicBezTo>
                <a:cubicBezTo>
                  <a:pt x="456820" y="2040674"/>
                  <a:pt x="0" y="1583854"/>
                  <a:pt x="0" y="1020337"/>
                </a:cubicBezTo>
                <a:cubicBezTo>
                  <a:pt x="0" y="456820"/>
                  <a:pt x="456820" y="0"/>
                  <a:pt x="102033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BD1CE3-05F6-44F6-B6FB-EB60AB96B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5160" y="0"/>
            <a:ext cx="2866840" cy="2925044"/>
          </a:xfrm>
          <a:custGeom>
            <a:avLst/>
            <a:gdLst>
              <a:gd name="connsiteX0" fmla="*/ 1437601 w 2866840"/>
              <a:gd name="connsiteY0" fmla="*/ 0 h 2925044"/>
              <a:gd name="connsiteX1" fmla="*/ 1488735 w 2866840"/>
              <a:gd name="connsiteY1" fmla="*/ 0 h 2925044"/>
              <a:gd name="connsiteX2" fmla="*/ 1612768 w 2866840"/>
              <a:gd name="connsiteY2" fmla="*/ 6263 h 2925044"/>
              <a:gd name="connsiteX3" fmla="*/ 2860554 w 2866840"/>
              <a:gd name="connsiteY3" fmla="*/ 1026775 h 2925044"/>
              <a:gd name="connsiteX4" fmla="*/ 2866840 w 2866840"/>
              <a:gd name="connsiteY4" fmla="*/ 1051223 h 2925044"/>
              <a:gd name="connsiteX5" fmla="*/ 2866840 w 2866840"/>
              <a:gd name="connsiteY5" fmla="*/ 1872530 h 2925044"/>
              <a:gd name="connsiteX6" fmla="*/ 2860554 w 2866840"/>
              <a:gd name="connsiteY6" fmla="*/ 1896978 h 2925044"/>
              <a:gd name="connsiteX7" fmla="*/ 1463168 w 2866840"/>
              <a:gd name="connsiteY7" fmla="*/ 2925044 h 2925044"/>
              <a:gd name="connsiteX8" fmla="*/ 0 w 2866840"/>
              <a:gd name="connsiteY8" fmla="*/ 1461877 h 2925044"/>
              <a:gd name="connsiteX9" fmla="*/ 1313568 w 2866840"/>
              <a:gd name="connsiteY9" fmla="*/ 6263 h 292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66840" h="2925044">
                <a:moveTo>
                  <a:pt x="1437601" y="0"/>
                </a:moveTo>
                <a:lnTo>
                  <a:pt x="1488735" y="0"/>
                </a:lnTo>
                <a:lnTo>
                  <a:pt x="1612768" y="6263"/>
                </a:lnTo>
                <a:cubicBezTo>
                  <a:pt x="2203017" y="66206"/>
                  <a:pt x="2689551" y="476982"/>
                  <a:pt x="2860554" y="1026775"/>
                </a:cubicBezTo>
                <a:lnTo>
                  <a:pt x="2866840" y="1051223"/>
                </a:lnTo>
                <a:lnTo>
                  <a:pt x="2866840" y="1872530"/>
                </a:lnTo>
                <a:lnTo>
                  <a:pt x="2860554" y="1896978"/>
                </a:lnTo>
                <a:cubicBezTo>
                  <a:pt x="2675300" y="2492588"/>
                  <a:pt x="2119737" y="2925044"/>
                  <a:pt x="1463168" y="2925044"/>
                </a:cubicBezTo>
                <a:cubicBezTo>
                  <a:pt x="655082" y="2925044"/>
                  <a:pt x="0" y="2269962"/>
                  <a:pt x="0" y="1461877"/>
                </a:cubicBezTo>
                <a:cubicBezTo>
                  <a:pt x="0" y="704296"/>
                  <a:pt x="575756" y="81192"/>
                  <a:pt x="1313568" y="626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562173-D9DF-4B80-B41C-B2366D8F2C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5227" y="3267983"/>
            <a:ext cx="3726773" cy="3590017"/>
          </a:xfrm>
          <a:custGeom>
            <a:avLst/>
            <a:gdLst>
              <a:gd name="connsiteX0" fmla="*/ 2272751 w 3726773"/>
              <a:gd name="connsiteY0" fmla="*/ 0 h 3590017"/>
              <a:gd name="connsiteX1" fmla="*/ 3718432 w 3726773"/>
              <a:gd name="connsiteY1" fmla="*/ 518986 h 3590017"/>
              <a:gd name="connsiteX2" fmla="*/ 3726773 w 3726773"/>
              <a:gd name="connsiteY2" fmla="*/ 526567 h 3590017"/>
              <a:gd name="connsiteX3" fmla="*/ 3726773 w 3726773"/>
              <a:gd name="connsiteY3" fmla="*/ 3590017 h 3590017"/>
              <a:gd name="connsiteX4" fmla="*/ 422959 w 3726773"/>
              <a:gd name="connsiteY4" fmla="*/ 3590017 h 3590017"/>
              <a:gd name="connsiteX5" fmla="*/ 388150 w 3726773"/>
              <a:gd name="connsiteY5" fmla="*/ 3543469 h 3590017"/>
              <a:gd name="connsiteX6" fmla="*/ 0 w 3726773"/>
              <a:gd name="connsiteY6" fmla="*/ 2272752 h 3590017"/>
              <a:gd name="connsiteX7" fmla="*/ 2272751 w 3726773"/>
              <a:gd name="connsiteY7" fmla="*/ 0 h 359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26773" h="3590017">
                <a:moveTo>
                  <a:pt x="2272751" y="0"/>
                </a:moveTo>
                <a:cubicBezTo>
                  <a:pt x="2821903" y="0"/>
                  <a:pt x="3325566" y="194765"/>
                  <a:pt x="3718432" y="518986"/>
                </a:cubicBezTo>
                <a:lnTo>
                  <a:pt x="3726773" y="526567"/>
                </a:lnTo>
                <a:lnTo>
                  <a:pt x="3726773" y="3590017"/>
                </a:lnTo>
                <a:lnTo>
                  <a:pt x="422959" y="3590017"/>
                </a:lnTo>
                <a:lnTo>
                  <a:pt x="388150" y="3543469"/>
                </a:lnTo>
                <a:cubicBezTo>
                  <a:pt x="143093" y="3180735"/>
                  <a:pt x="0" y="2743454"/>
                  <a:pt x="0" y="2272752"/>
                </a:cubicBezTo>
                <a:cubicBezTo>
                  <a:pt x="0" y="1017546"/>
                  <a:pt x="1017546" y="0"/>
                  <a:pt x="227275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2CFE18B2-C456-4DF2-9D4C-6A9017A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ABD619-DC62-4FA6-8ABC-122A5C4B4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8A21E-0201-405E-A386-7A39F8F82F4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301262" y="21822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6BABF-2A15-48FB-BA27-BC36B637FC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16200000">
            <a:off x="-762668" y="4999038"/>
            <a:ext cx="335280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1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60" r:id="rId5"/>
    <p:sldLayoutId id="2147483680" r:id="rId6"/>
    <p:sldLayoutId id="2147483677" r:id="rId7"/>
    <p:sldLayoutId id="2147483665" r:id="rId8"/>
    <p:sldLayoutId id="2147483663" r:id="rId9"/>
    <p:sldLayoutId id="2147483679" r:id="rId10"/>
    <p:sldLayoutId id="2147483681" r:id="rId11"/>
    <p:sldLayoutId id="214748367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4F1D-F101-4E88-9698-51D314EF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58" y="2151529"/>
            <a:ext cx="4529317" cy="1749175"/>
          </a:xfrm>
        </p:spPr>
        <p:txBody>
          <a:bodyPr/>
          <a:lstStyle/>
          <a:p>
            <a:pPr algn="l"/>
            <a:r>
              <a:rPr lang="en-US" sz="4000" b="1" dirty="0">
                <a:effectLst/>
                <a:latin typeface="Calibri" panose="020F0502020204030204" pitchFamily="34" charset="0"/>
              </a:rPr>
              <a:t>StayScape</a:t>
            </a:r>
            <a:br>
              <a:rPr lang="en-US" sz="4000" dirty="0"/>
            </a:br>
            <a:r>
              <a:rPr lang="en-US" sz="1600" dirty="0">
                <a:effectLst/>
                <a:latin typeface="Calibri" panose="020F0502020204030204" pitchFamily="34" charset="0"/>
              </a:rPr>
              <a:t>HOTEL EXECUTIVE &amp; GUEST INSIGHT</a:t>
            </a:r>
            <a:endParaRPr lang="en-US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26762-2B23-4F53-9DBB-96441A2A5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dirty="0"/>
              <a:t>Presented by: Shyamala Devi 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ED8C41-0E38-446A-889B-6271003E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476" y="0"/>
            <a:ext cx="6869524" cy="626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3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4FA453-CA6F-4ED8-B4B2-61C3D67F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8095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95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Agenda</a:t>
            </a:r>
            <a:endParaRPr lang="en-US" dirty="0">
              <a:ln w="95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1866DD-53C9-4AF0-9E9A-BF19D245E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2" y="1260875"/>
            <a:ext cx="4434721" cy="3710427"/>
          </a:xfrm>
        </p:spPr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DATA CLEANING AND PREPARATION</a:t>
            </a:r>
          </a:p>
          <a:p>
            <a:r>
              <a:rPr lang="en-US" dirty="0"/>
              <a:t>DATA MODEL AND DAX MEASURES</a:t>
            </a:r>
          </a:p>
          <a:p>
            <a:r>
              <a:rPr lang="en-US" dirty="0"/>
              <a:t>DASHBOARD STRUCTURE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THANK YOU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D5BE6-8E82-44B7-AF20-20405C0CE58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604B198-9D08-41B3-8B9D-FE0E35ECC3D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513" b="11513"/>
          <a:stretch>
            <a:fillRect/>
          </a:stretch>
        </p:blipFill>
        <p:spPr>
          <a:xfrm>
            <a:off x="1382572" y="554037"/>
            <a:ext cx="4281488" cy="2468563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C91084B6-5686-4282-A910-F73101D6B11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4321" b="143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098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775A98A-0CC1-4B19-AC53-B7D54A803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FC710-7DE6-436E-8ECB-E677CB3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4DEF5-BA05-4B07-B908-FA24548D192F}"/>
              </a:ext>
            </a:extLst>
          </p:cNvPr>
          <p:cNvSpPr txBox="1"/>
          <p:nvPr/>
        </p:nvSpPr>
        <p:spPr>
          <a:xfrm flipH="1">
            <a:off x="139848" y="330060"/>
            <a:ext cx="5265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363C9-1C83-48CC-A6D5-ADDD87CF8F3F}"/>
              </a:ext>
            </a:extLst>
          </p:cNvPr>
          <p:cNvSpPr txBox="1"/>
          <p:nvPr/>
        </p:nvSpPr>
        <p:spPr>
          <a:xfrm>
            <a:off x="727934" y="1183340"/>
            <a:ext cx="10467190" cy="3504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project analyses hotel booking data for a City Hotel and a Resort Hotel in Power BI.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It turns 119,390 booking records (87,389 after cleaning) into an interactive four-page dashboard called Hotel Stay, showing bookings, cancellations, booking channels and guest behaviour.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et of insights and recommendations for reducing cancellations and growing direct bookings.</a:t>
            </a:r>
          </a:p>
        </p:txBody>
      </p:sp>
    </p:spTree>
    <p:extLst>
      <p:ext uri="{BB962C8B-B14F-4D97-AF65-F5344CB8AC3E}">
        <p14:creationId xmlns:p14="http://schemas.microsoft.com/office/powerpoint/2010/main" val="2140627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56EB285-2998-4C55-883A-6EC1985AA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236164"/>
              </p:ext>
            </p:extLst>
          </p:nvPr>
        </p:nvGraphicFramePr>
        <p:xfrm>
          <a:off x="734210" y="1210232"/>
          <a:ext cx="4429460" cy="3711392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839880">
                  <a:extLst>
                    <a:ext uri="{9D8B030D-6E8A-4147-A177-3AD203B41FA5}">
                      <a16:colId xmlns:a16="http://schemas.microsoft.com/office/drawing/2014/main" val="1634249987"/>
                    </a:ext>
                  </a:extLst>
                </a:gridCol>
                <a:gridCol w="2589580">
                  <a:extLst>
                    <a:ext uri="{9D8B030D-6E8A-4147-A177-3AD203B41FA5}">
                      <a16:colId xmlns:a16="http://schemas.microsoft.com/office/drawing/2014/main" val="2153099511"/>
                    </a:ext>
                  </a:extLst>
                </a:gridCol>
              </a:tblGrid>
              <a:tr h="4639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Property</a:t>
                      </a:r>
                      <a:endParaRPr lang="en-IN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Detail</a:t>
                      </a:r>
                      <a:endParaRPr lang="en-IN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22610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Dataset name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hotel_bookings.csv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164073409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Source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Kaggle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200953921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Hotels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City Hotel and Resort Hotel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827338561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Arrival period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July 2015 to August 2017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037885337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Total rows (raw)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119,390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282692680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Total columns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043031382"/>
                  </a:ext>
                </a:extLst>
              </a:tr>
              <a:tr h="4639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Rows after cleaning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87,389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79063704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C32E6-09BC-4023-86F1-4D886696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C5B665CD-F328-44FC-B53A-650BAA1FE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13F090-7B9B-4137-9F4D-EA674E8B9C70}"/>
              </a:ext>
            </a:extLst>
          </p:cNvPr>
          <p:cNvSpPr txBox="1"/>
          <p:nvPr/>
        </p:nvSpPr>
        <p:spPr>
          <a:xfrm flipH="1">
            <a:off x="139848" y="330060"/>
            <a:ext cx="5265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DATA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6639C-BF06-4BC2-9A04-58E1BA98AE01}"/>
              </a:ext>
            </a:extLst>
          </p:cNvPr>
          <p:cNvSpPr txBox="1"/>
          <p:nvPr/>
        </p:nvSpPr>
        <p:spPr>
          <a:xfrm>
            <a:off x="5163670" y="1183340"/>
            <a:ext cx="6817660" cy="463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80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effectLst/>
                <a:latin typeface="Calibri" panose="020F0502020204030204" pitchFamily="34" charset="0"/>
                <a:ea typeface="Calibri" panose="020F0502020204030204" pitchFamily="34" charset="0"/>
              </a:defRPr>
            </a:lvl1pPr>
          </a:lstStyle>
          <a:p>
            <a:pPr marL="0" indent="0">
              <a:buNone/>
            </a:pPr>
            <a:r>
              <a:rPr lang="en-IN" sz="1800" b="1" dirty="0">
                <a:ln>
                  <a:noFill/>
                </a:ln>
              </a:rPr>
              <a:t>Whole number: </a:t>
            </a:r>
            <a:r>
              <a:rPr lang="en-IN" sz="1800" dirty="0" err="1">
                <a:ln>
                  <a:noFill/>
                </a:ln>
              </a:rPr>
              <a:t>is_canceled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lead_time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arrival_date_year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arrival_date_week_number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arrival_date_day_of_month,stays_in_weekend_nights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stays_in_week_nights</a:t>
            </a:r>
            <a:r>
              <a:rPr lang="en-IN" sz="1800" dirty="0">
                <a:ln>
                  <a:noFill/>
                </a:ln>
              </a:rPr>
              <a:t>, adults, children, babies, </a:t>
            </a:r>
            <a:r>
              <a:rPr lang="en-IN" sz="1800" dirty="0" err="1">
                <a:ln>
                  <a:noFill/>
                </a:ln>
              </a:rPr>
              <a:t>is_repeated_guest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previous_cancellations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previous_bookings_not_canceled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booking_changes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days_in_waiting_list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required_car_parking_spaces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total_of_special_requests</a:t>
            </a:r>
            <a:endParaRPr lang="en-IN" sz="1800" dirty="0">
              <a:ln>
                <a:noFill/>
              </a:ln>
            </a:endParaRPr>
          </a:p>
          <a:p>
            <a:pPr marL="0" indent="0">
              <a:buNone/>
            </a:pPr>
            <a:r>
              <a:rPr lang="en-IN" sz="1800" b="1" dirty="0">
                <a:ln>
                  <a:noFill/>
                </a:ln>
              </a:rPr>
              <a:t>Decimal number: </a:t>
            </a:r>
            <a:r>
              <a:rPr lang="en-IN" sz="1800" dirty="0" err="1">
                <a:ln>
                  <a:noFill/>
                </a:ln>
              </a:rPr>
              <a:t>adr</a:t>
            </a:r>
            <a:endParaRPr lang="en-IN" sz="1800" dirty="0">
              <a:ln>
                <a:noFill/>
              </a:ln>
            </a:endParaRPr>
          </a:p>
          <a:p>
            <a:pPr marL="0" indent="0">
              <a:buNone/>
            </a:pPr>
            <a:r>
              <a:rPr lang="en-IN" sz="1800" b="1" dirty="0">
                <a:ln>
                  <a:noFill/>
                </a:ln>
              </a:rPr>
              <a:t>Date: </a:t>
            </a:r>
            <a:r>
              <a:rPr lang="en-IN" sz="1800" dirty="0" err="1">
                <a:ln>
                  <a:noFill/>
                </a:ln>
              </a:rPr>
              <a:t>reservation_status_date</a:t>
            </a:r>
            <a:endParaRPr lang="en-IN" sz="1800" dirty="0">
              <a:ln>
                <a:noFill/>
              </a:ln>
            </a:endParaRPr>
          </a:p>
          <a:p>
            <a:pPr marL="0" indent="0">
              <a:buNone/>
            </a:pPr>
            <a:r>
              <a:rPr lang="en-IN" sz="1800" b="1" dirty="0">
                <a:ln>
                  <a:noFill/>
                </a:ln>
              </a:rPr>
              <a:t>Text: </a:t>
            </a:r>
            <a:r>
              <a:rPr lang="en-IN" sz="1800" dirty="0">
                <a:ln>
                  <a:noFill/>
                </a:ln>
              </a:rPr>
              <a:t>hotel, </a:t>
            </a:r>
            <a:r>
              <a:rPr lang="en-IN" sz="1800" dirty="0" err="1">
                <a:ln>
                  <a:noFill/>
                </a:ln>
              </a:rPr>
              <a:t>arrival_date_month</a:t>
            </a:r>
            <a:r>
              <a:rPr lang="en-IN" sz="1800" dirty="0">
                <a:ln>
                  <a:noFill/>
                </a:ln>
              </a:rPr>
              <a:t>, meal, country, </a:t>
            </a:r>
            <a:r>
              <a:rPr lang="en-IN" sz="1800" dirty="0" err="1">
                <a:ln>
                  <a:noFill/>
                </a:ln>
              </a:rPr>
              <a:t>market_segment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distribution_channel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reserved_room_type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assigned_room_type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deposit_type</a:t>
            </a:r>
            <a:r>
              <a:rPr lang="en-IN" sz="1800" dirty="0">
                <a:ln>
                  <a:noFill/>
                </a:ln>
              </a:rPr>
              <a:t>, agent, company, </a:t>
            </a:r>
            <a:r>
              <a:rPr lang="en-IN" sz="1800" dirty="0" err="1">
                <a:ln>
                  <a:noFill/>
                </a:ln>
              </a:rPr>
              <a:t>customer_type</a:t>
            </a:r>
            <a:r>
              <a:rPr lang="en-IN" sz="1800" dirty="0">
                <a:ln>
                  <a:noFill/>
                </a:ln>
              </a:rPr>
              <a:t>, </a:t>
            </a:r>
            <a:r>
              <a:rPr lang="en-IN" sz="1800" dirty="0" err="1">
                <a:ln>
                  <a:noFill/>
                </a:ln>
              </a:rPr>
              <a:t>reservation_status</a:t>
            </a:r>
            <a:endParaRPr lang="en-IN" sz="1800" dirty="0">
              <a:ln>
                <a:noFill/>
              </a:ln>
            </a:endParaRPr>
          </a:p>
          <a:p>
            <a:pPr marL="0" indent="0">
              <a:buNone/>
            </a:pPr>
            <a:r>
              <a:rPr lang="en-IN" sz="1800" dirty="0">
                <a:ln>
                  <a:noFill/>
                </a:ln>
              </a:rPr>
              <a:t>The dataset has 32 columns: 17 whole-number, 1 decimal, 1 date and 13 text columns.</a:t>
            </a:r>
          </a:p>
        </p:txBody>
      </p:sp>
    </p:spTree>
    <p:extLst>
      <p:ext uri="{BB962C8B-B14F-4D97-AF65-F5344CB8AC3E}">
        <p14:creationId xmlns:p14="http://schemas.microsoft.com/office/powerpoint/2010/main" val="120747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2BAA-0EA6-46A3-8843-F77E8DF1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881B00F4-89A3-481B-8A08-795C3BAA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B17E50-EF05-4576-A4AE-D0A3963991BD}"/>
              </a:ext>
            </a:extLst>
          </p:cNvPr>
          <p:cNvSpPr txBox="1"/>
          <p:nvPr/>
        </p:nvSpPr>
        <p:spPr>
          <a:xfrm flipH="1">
            <a:off x="139847" y="330060"/>
            <a:ext cx="1005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DATA </a:t>
            </a:r>
            <a:r>
              <a:rPr lang="en-IN" sz="2800" b="1" dirty="0">
                <a:solidFill>
                  <a:schemeClr val="bg1"/>
                </a:solidFill>
                <a:ea typeface="Calibri" panose="020F0502020204030204" pitchFamily="34" charset="0"/>
              </a:rPr>
              <a:t>CLEANING AND PREPARATION 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B009ED-98A3-45F9-973A-5099F24CD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53653"/>
              </p:ext>
            </p:extLst>
          </p:nvPr>
        </p:nvGraphicFramePr>
        <p:xfrm>
          <a:off x="719862" y="1203092"/>
          <a:ext cx="10091573" cy="5518383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709222">
                  <a:extLst>
                    <a:ext uri="{9D8B030D-6E8A-4147-A177-3AD203B41FA5}">
                      <a16:colId xmlns:a16="http://schemas.microsoft.com/office/drawing/2014/main" val="1091095831"/>
                    </a:ext>
                  </a:extLst>
                </a:gridCol>
                <a:gridCol w="8382351">
                  <a:extLst>
                    <a:ext uri="{9D8B030D-6E8A-4147-A177-3AD203B41FA5}">
                      <a16:colId xmlns:a16="http://schemas.microsoft.com/office/drawing/2014/main" val="3467073285"/>
                    </a:ext>
                  </a:extLst>
                </a:gridCol>
              </a:tblGrid>
              <a:tr h="536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IN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IN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952628"/>
                  </a:ext>
                </a:extLst>
              </a:tr>
              <a:tr h="6972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Null check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Found missing values in company, agent, country and children. They were stored as the text NULL or NA in the file.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538884044"/>
                  </a:ext>
                </a:extLst>
              </a:tr>
              <a:tr h="531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>
                          <a:effectLst/>
                        </a:rPr>
                        <a:t>Removed columns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Removed unused columns such as company (94% empty).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232694858"/>
                  </a:ext>
                </a:extLst>
              </a:tr>
              <a:tr h="6972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Missing values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Replaced agent NULL with 0, country NULL with Unknown and children NA with 0, before changing data types.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04571771"/>
                  </a:ext>
                </a:extLst>
              </a:tr>
              <a:tr h="6972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>
                          <a:effectLst/>
                        </a:rPr>
                        <a:t>Blank rows and duplicates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Removed blank rows and exact duplicate rows. This reduced the data from 119,390 to 87,389 rows.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190260453"/>
                  </a:ext>
                </a:extLst>
              </a:tr>
              <a:tr h="2943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>
                          <a:effectLst/>
                        </a:rPr>
                        <a:t>Text cleaning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Trimmed and cleaned the text columns.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429739717"/>
                  </a:ext>
                </a:extLst>
              </a:tr>
              <a:tr h="6972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>
                          <a:effectLst/>
                        </a:rPr>
                        <a:t>Data types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Set count columns to Whole Number, </a:t>
                      </a:r>
                      <a:r>
                        <a:rPr lang="en-IN" sz="1600" dirty="0" err="1">
                          <a:effectLst/>
                        </a:rPr>
                        <a:t>adr</a:t>
                      </a:r>
                      <a:r>
                        <a:rPr lang="en-IN" sz="1600" dirty="0">
                          <a:effectLst/>
                        </a:rPr>
                        <a:t> to a decimal type and </a:t>
                      </a:r>
                      <a:r>
                        <a:rPr lang="en-IN" sz="1600" dirty="0" err="1">
                          <a:effectLst/>
                        </a:rPr>
                        <a:t>reservation_status_date</a:t>
                      </a:r>
                      <a:r>
                        <a:rPr lang="en-IN" sz="1600" dirty="0">
                          <a:effectLst/>
                        </a:rPr>
                        <a:t> to Date.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116620565"/>
                  </a:ext>
                </a:extLst>
              </a:tr>
              <a:tr h="531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>
                          <a:effectLst/>
                        </a:rPr>
                        <a:t>Custom columns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Added </a:t>
                      </a:r>
                      <a:r>
                        <a:rPr lang="en-IN" sz="1600" dirty="0" err="1">
                          <a:effectLst/>
                        </a:rPr>
                        <a:t>TotalNights</a:t>
                      </a:r>
                      <a:r>
                        <a:rPr lang="en-IN" sz="1600" dirty="0">
                          <a:effectLst/>
                        </a:rPr>
                        <a:t>, </a:t>
                      </a:r>
                      <a:r>
                        <a:rPr lang="en-IN" sz="1600" dirty="0" err="1">
                          <a:effectLst/>
                        </a:rPr>
                        <a:t>TotalGuests</a:t>
                      </a:r>
                      <a:r>
                        <a:rPr lang="en-IN" sz="1600" dirty="0">
                          <a:effectLst/>
                        </a:rPr>
                        <a:t>, Revenue, Room Changed and Month Number.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653650406"/>
                  </a:ext>
                </a:extLst>
              </a:tr>
              <a:tr h="6972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>
                          <a:effectLst/>
                        </a:rPr>
                        <a:t>Data observation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600" dirty="0">
                          <a:effectLst/>
                        </a:rPr>
                        <a:t>Undefined values in </a:t>
                      </a:r>
                      <a:r>
                        <a:rPr lang="en-IN" sz="1600" dirty="0" err="1">
                          <a:effectLst/>
                        </a:rPr>
                        <a:t>market_segment</a:t>
                      </a:r>
                      <a:r>
                        <a:rPr lang="en-IN" sz="1600" dirty="0">
                          <a:effectLst/>
                        </a:rPr>
                        <a:t>, </a:t>
                      </a:r>
                      <a:r>
                        <a:rPr lang="en-IN" sz="1600" dirty="0" err="1">
                          <a:effectLst/>
                        </a:rPr>
                        <a:t>distribution_channel</a:t>
                      </a:r>
                      <a:r>
                        <a:rPr lang="en-IN" sz="1600" dirty="0">
                          <a:effectLst/>
                        </a:rPr>
                        <a:t> and meal were kept as their own category.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56540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62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C4421C-78C0-4C17-AFA9-50CFAE61A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1" y="1734669"/>
            <a:ext cx="10515600" cy="3109446"/>
          </a:xfrm>
        </p:spPr>
        <p:txBody>
          <a:bodyPr/>
          <a:lstStyle/>
          <a:p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After cleaning and preparation,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</a:rPr>
              <a:t>then data model with custom column in power query.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 data was loaded into Power BI, DAX measures were written, and the four report pages were built and formatted.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9E1A8-150C-47FB-8195-0A3C2CEC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79B40539-B42D-4CF7-9EF5-141A81A8B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72B00-196E-427D-8F43-AD8A25EC9746}"/>
              </a:ext>
            </a:extLst>
          </p:cNvPr>
          <p:cNvSpPr txBox="1"/>
          <p:nvPr/>
        </p:nvSpPr>
        <p:spPr>
          <a:xfrm flipH="1">
            <a:off x="139847" y="330060"/>
            <a:ext cx="1005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DATA </a:t>
            </a:r>
            <a:r>
              <a:rPr lang="en-IN" sz="2800" b="1" dirty="0">
                <a:solidFill>
                  <a:schemeClr val="bg1"/>
                </a:solidFill>
                <a:ea typeface="Calibri" panose="020F0502020204030204" pitchFamily="34" charset="0"/>
              </a:rPr>
              <a:t>MODEL &amp; DAX MEASURES	 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66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3FCAC-6806-4977-B942-EA45849C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9F47AA98-8A22-4723-B0B0-6D2263A09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79BBE7-82B7-4719-A538-4836077A6D28}"/>
              </a:ext>
            </a:extLst>
          </p:cNvPr>
          <p:cNvSpPr txBox="1"/>
          <p:nvPr/>
        </p:nvSpPr>
        <p:spPr>
          <a:xfrm flipH="1">
            <a:off x="139847" y="330060"/>
            <a:ext cx="1005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DASHBOARD STRUCTURE</a:t>
            </a:r>
            <a:r>
              <a:rPr lang="en-IN" sz="2800" b="1" dirty="0">
                <a:solidFill>
                  <a:schemeClr val="bg1"/>
                </a:solidFill>
                <a:ea typeface="Calibri" panose="020F0502020204030204" pitchFamily="34" charset="0"/>
              </a:rPr>
              <a:t>	 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852F9-F132-4BA2-A5B9-73A6687DBE2B}"/>
              </a:ext>
            </a:extLst>
          </p:cNvPr>
          <p:cNvSpPr txBox="1"/>
          <p:nvPr/>
        </p:nvSpPr>
        <p:spPr>
          <a:xfrm>
            <a:off x="753036" y="1250299"/>
            <a:ext cx="10797988" cy="106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Visual types used: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KPI cards, clustered column and bar charts, a column and line combo chart, line chart, donut charts, table, slicers and page navigation buttons.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7FF909-08BF-4140-A96E-347045724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1114"/>
              </p:ext>
            </p:extLst>
          </p:nvPr>
        </p:nvGraphicFramePr>
        <p:xfrm>
          <a:off x="753036" y="1986287"/>
          <a:ext cx="10300449" cy="4001329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627945">
                  <a:extLst>
                    <a:ext uri="{9D8B030D-6E8A-4147-A177-3AD203B41FA5}">
                      <a16:colId xmlns:a16="http://schemas.microsoft.com/office/drawing/2014/main" val="3835125578"/>
                    </a:ext>
                  </a:extLst>
                </a:gridCol>
                <a:gridCol w="2959899">
                  <a:extLst>
                    <a:ext uri="{9D8B030D-6E8A-4147-A177-3AD203B41FA5}">
                      <a16:colId xmlns:a16="http://schemas.microsoft.com/office/drawing/2014/main" val="2670501813"/>
                    </a:ext>
                  </a:extLst>
                </a:gridCol>
                <a:gridCol w="5712605">
                  <a:extLst>
                    <a:ext uri="{9D8B030D-6E8A-4147-A177-3AD203B41FA5}">
                      <a16:colId xmlns:a16="http://schemas.microsoft.com/office/drawing/2014/main" val="3708550940"/>
                    </a:ext>
                  </a:extLst>
                </a:gridCol>
              </a:tblGrid>
              <a:tr h="2712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Page</a:t>
                      </a:r>
                      <a:endParaRPr lang="en-IN" sz="18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Focus</a:t>
                      </a:r>
                      <a:endParaRPr lang="en-IN" sz="18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Main visuals</a:t>
                      </a:r>
                      <a:endParaRPr lang="en-IN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402505"/>
                  </a:ext>
                </a:extLst>
              </a:tr>
              <a:tr h="10591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Page 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Overview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effectLst/>
                        </a:rPr>
                        <a:t>Five KPI cards (Bookings, Revenue, </a:t>
                      </a:r>
                      <a:r>
                        <a:rPr lang="en-IN" sz="1400" dirty="0" err="1">
                          <a:effectLst/>
                        </a:rPr>
                        <a:t>Avg</a:t>
                      </a:r>
                      <a:r>
                        <a:rPr lang="en-IN" sz="1400" dirty="0">
                          <a:effectLst/>
                        </a:rPr>
                        <a:t> ADR, Cancellation rate, </a:t>
                      </a:r>
                      <a:r>
                        <a:rPr lang="en-IN" sz="1400" dirty="0" err="1">
                          <a:effectLst/>
                        </a:rPr>
                        <a:t>Avg</a:t>
                      </a:r>
                      <a:r>
                        <a:rPr lang="en-IN" sz="1400" dirty="0">
                          <a:effectLst/>
                        </a:rPr>
                        <a:t> stay), bookings by month, hotel shares donut, revenue by year, top 10 countries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798205433"/>
                  </a:ext>
                </a:extLst>
              </a:tr>
              <a:tr h="8621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Page 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Booking Analysis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effectLst/>
                        </a:rPr>
                        <a:t>Three KPI cards (Bookings, Guests, Confirmed bookings), booking by hotel trend, bookings by market segment, hotel summary table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332155729"/>
                  </a:ext>
                </a:extLst>
              </a:tr>
              <a:tr h="8621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Page 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Cancellation Analysis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effectLst/>
                        </a:rPr>
                        <a:t>Cancellation rate and cancelled bookings cards, cancellation rate by deposit, customer type, market segment and hotel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869776666"/>
                  </a:ext>
                </a:extLst>
              </a:tr>
              <a:tr h="8621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effectLst/>
                        </a:rPr>
                        <a:t>Page 4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>
                          <a:effectLst/>
                        </a:rPr>
                        <a:t>Guest Analysis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IN" sz="1400" dirty="0">
                          <a:effectLst/>
                        </a:rPr>
                        <a:t>Three KPI cards (Guests, Repeat guest, </a:t>
                      </a:r>
                      <a:r>
                        <a:rPr lang="en-IN" sz="1400" dirty="0" err="1">
                          <a:effectLst/>
                        </a:rPr>
                        <a:t>Avg</a:t>
                      </a:r>
                      <a:r>
                        <a:rPr lang="en-IN" sz="1400" dirty="0">
                          <a:effectLst/>
                        </a:rPr>
                        <a:t> stay), bookings by distribution channel, room allocation donut, bookings by meal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7244601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F1703A0-0319-497D-AAFE-47F1FAE59341}"/>
              </a:ext>
            </a:extLst>
          </p:cNvPr>
          <p:cNvSpPr txBox="1"/>
          <p:nvPr/>
        </p:nvSpPr>
        <p:spPr>
          <a:xfrm>
            <a:off x="753036" y="6168574"/>
            <a:ext cx="4128247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800"/>
              </a:spcAft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Slicers: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Hotel and Year on every page.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EC2469-1BFD-4F74-8483-524037AB2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240" y="6076841"/>
            <a:ext cx="4128246" cy="644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B7916F-65AE-488A-9351-7447DE5A4967}"/>
              </a:ext>
            </a:extLst>
          </p:cNvPr>
          <p:cNvSpPr txBox="1"/>
          <p:nvPr/>
        </p:nvSpPr>
        <p:spPr>
          <a:xfrm>
            <a:off x="7871909" y="6199103"/>
            <a:ext cx="318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n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 DASHBOARD</a:t>
            </a:r>
          </a:p>
        </p:txBody>
      </p:sp>
    </p:spTree>
    <p:extLst>
      <p:ext uri="{BB962C8B-B14F-4D97-AF65-F5344CB8AC3E}">
        <p14:creationId xmlns:p14="http://schemas.microsoft.com/office/powerpoint/2010/main" val="9347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076EB-771A-44AF-800B-46478AF84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06" y="1183341"/>
            <a:ext cx="10618694" cy="455452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About 63K bookings were confirmed, with estimated revenue of about $22.98M and 27% of them were cancelled.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City Hotel receives 61.14% of bookings and earns the higher ADR, but it cancels more 30% than Resort Hotel 23%. 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Bookings peak in August at both hotels.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Online TA is the largest booking segment and cancels 35% of its bookings, while Direct bookings cancel only 14%.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Repeat guests are only about 3K bookings, a very small share of the total.</a:t>
            </a:r>
          </a:p>
          <a:p>
            <a:pPr marL="342900" indent="-342900">
              <a:lnSpc>
                <a:spcPct val="107000"/>
              </a:lnSpc>
              <a:spcAft>
                <a:spcPts val="600"/>
              </a:spcAft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Portugal is the largest source market with 27.4K bookings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E66CA-23FF-40B7-BCF7-B8E66714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B4891DC0-4C88-4FE1-8D82-39024468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201062-8CAA-493F-81FF-0B6C4ED6F8CB}"/>
              </a:ext>
            </a:extLst>
          </p:cNvPr>
          <p:cNvSpPr txBox="1"/>
          <p:nvPr/>
        </p:nvSpPr>
        <p:spPr>
          <a:xfrm flipH="1">
            <a:off x="139847" y="330060"/>
            <a:ext cx="1005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a typeface="Calibri" panose="020F0502020204030204" pitchFamily="34" charset="0"/>
              </a:rPr>
              <a:t>KEY FINDINGS AND INSIGHTS	 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702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9DB1F-4493-4106-9B13-F6464D752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30" y="1183340"/>
            <a:ext cx="10515600" cy="5015754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Grow direct bookings with member rates or a booking website discount, since they cancel far less than agent bookings.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Reduce cancellation risk on Online TA bookings with reminders and clear deposit terms, especially for bookings made far in advance.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Check the non-refundable deposit data before acting on it, because its very high cancellation rate comes from a small group of bookings.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Create a loyalty offer for returning guests, who are rare in the data.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Promote longer-stay packages at City Hotel, where the average stay is shorter.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Plan staffing and stock for the summer peak, especially August.</a:t>
            </a: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Review room assignments, because about 1 in 7 bookings gets a different room from the one reserved.</a:t>
            </a:r>
          </a:p>
          <a:p>
            <a:endParaRPr lang="en-I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08BA-D4F1-4424-8AA5-1469FF67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392E2AA4-E878-474E-9958-90A693732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6E2517-372F-406D-BDCD-585B49FAAC6B}"/>
              </a:ext>
            </a:extLst>
          </p:cNvPr>
          <p:cNvSpPr txBox="1"/>
          <p:nvPr/>
        </p:nvSpPr>
        <p:spPr>
          <a:xfrm flipH="1">
            <a:off x="139847" y="330060"/>
            <a:ext cx="1005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a typeface="Calibri" panose="020F0502020204030204" pitchFamily="34" charset="0"/>
              </a:rPr>
              <a:t>RECOMMENDATIONS	 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320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05B43-DBC8-4D40-8A67-DEAD0E8A8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0" y="155374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project demonstrates a complete Power BI workflow, from raw data validation and cleaning to DAX-driven KPIs and an interactive, filterable dashboard.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dashboard shows two hotels with different guest patterns, where cancellations are driven by booking channel and guest type rather than by volume.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Reducing agent driven cancellations and encouraging direct and repeat bookings has more upside than adding more bookings.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D1A07-CAFB-4093-9D93-CAFBD140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937E9977-6CCF-43B7-987C-9D64C95E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3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C640A2-A2B4-400E-8D53-229C68A7A32B}"/>
              </a:ext>
            </a:extLst>
          </p:cNvPr>
          <p:cNvSpPr txBox="1"/>
          <p:nvPr/>
        </p:nvSpPr>
        <p:spPr>
          <a:xfrm flipH="1">
            <a:off x="139847" y="330060"/>
            <a:ext cx="1005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a typeface="Calibri" panose="020F0502020204030204" pitchFamily="34" charset="0"/>
              </a:rPr>
              <a:t>CONCLUSION	 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4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4CDFAA45-882A-416F-A852-1A8343E4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/>
          <a:lstStyle/>
          <a:p>
            <a:r>
              <a:rPr lang="en-US" b="0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E796413-D756-477E-9170-1EF1E340CB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04905" y="3728425"/>
            <a:ext cx="5181735" cy="2534890"/>
          </a:xfrm>
        </p:spPr>
        <p:txBody>
          <a:bodyPr>
            <a:normAutofit/>
          </a:bodyPr>
          <a:lstStyle/>
          <a:p>
            <a:r>
              <a:rPr lang="en-US" sz="3200" b="1" dirty="0"/>
              <a:t>Q &amp; A…..?</a:t>
            </a:r>
          </a:p>
          <a:p>
            <a:endParaRPr lang="en-US" sz="3200" b="1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FC4993C-22B1-4153-9289-D26CFB4B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2E97A50-FA1A-419E-BCB7-EC6BE8BC8E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300" r="13300"/>
          <a:stretch>
            <a:fillRect/>
          </a:stretch>
        </p:blipFill>
        <p:spPr/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763151F-9817-4BB4-AB6F-133215C978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9600" r="9600"/>
          <a:stretch>
            <a:fillRect/>
          </a:stretch>
        </p:blipFill>
        <p:spPr/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97616137-105E-4871-8819-AFC8C74C49D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l="6677" r="66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8728391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2BE0AF-90CB-4C86-BB1E-26E501BCE9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025B34-BD2B-4F65-80AF-217925182E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5B3D43-99F7-47DF-90D6-3E3028F5936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Gradient design</Template>
  <TotalTime>237</TotalTime>
  <Words>1013</Words>
  <Application>Microsoft Office PowerPoint</Application>
  <PresentationFormat>Widescreen</PresentationFormat>
  <Paragraphs>110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Univers</vt:lpstr>
      <vt:lpstr>GradientVTI</vt:lpstr>
      <vt:lpstr>StayScape HOTEL EXECUTIVE &amp; GUEST INSIGHT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StayScape        HOTEL EXECUTIVE &amp; GUEST INSIGHT</dc:title>
  <dc:creator>ELCOT</dc:creator>
  <cp:lastModifiedBy>ELCOT</cp:lastModifiedBy>
  <cp:revision>65</cp:revision>
  <dcterms:created xsi:type="dcterms:W3CDTF">2026-10-16T03:46:27Z</dcterms:created>
  <dcterms:modified xsi:type="dcterms:W3CDTF">2026-10-16T11:16:25Z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